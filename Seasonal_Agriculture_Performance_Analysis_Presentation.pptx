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0669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VOIS AICTE Internship Batch 1 (2026-2027) Major Project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366"/>
                </a:solidFill>
              </a:rPr>
              <a:t>Seasonal Agriculture Performance Analysis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555"/>
                </a:solidFill>
              </a:rPr>
              <a:t>Empirical Data Analytics &amp; Crop Economics Across 4,000 Multi-State Farm Observations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011680" y="3108960"/>
            <a:ext cx="81381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txBody>
          <a:bodyPr wrap="square" lIns="190500" tIns="190500" rIns="190500" bIns="19050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Student Name: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Asmi Sharma
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College Name: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Chandigarh University (BE Computer Science &amp; Engineering, 2026 Passout)
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AICTE Student ID: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STU6a65f9036e5721785067779
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Internship ID: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INTERNSHIP_17830691666a4779eecfe8a
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Program: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VOIS for Tech - Data Analytics Internship (Edunet Foundation &amp; Vodafone Idea Foundation)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Problem Statement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2 of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698480" cy="53035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Core Problem Context: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• Agricultural activities across India are fundamentally shaped by three distinct cropping seasons: Kharif (Monsoon), Rabi (Winter), and Zaid (Summer).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• While raw farm logs capture final output, they do not explain why crop yields, operational costs, and net farm profits vary so sharply between seasons.
</a:t>
            </a:r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Key Operational Challenges Identified: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• Resource Misallocation: Farmers frequently apply uniform chemical and water inputs regardless of seasonal evaporative demand and ambient moisture levels.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• Summer Inefficiency Trap: Uncontrolled flood irrigation during summer heat (31–39°C in Zaid) creates high pumping bills with severe evaporation loss.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• Monsoon Pest Vulnerability: Prolonged high humidity (&gt;71% in Kharif) drives disease and pest outbreak risks above 54%, eroding gross margins.
</a:t>
            </a:r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Project Objective: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• Investigate 4,000 multi-state farm observations using statistical data analytics to benchmark seasonal performance, test hypotheses, and build data-driven recommendations.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Project Description &amp; Dataset Scope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3 of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698480" cy="53035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Dataset Scope &amp; Coverage: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• 4,000 verified farm records across 8 major agricultural states in India:
  Andhra Pradesh (529), Telangana (516), Maharashtra (512), Madhya Pradesh (497), Karnataka (489), Gujarat (488), Tamil Nadu (485), and Punjab (484).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• 8 essential crops covering foodgrains, cash crops, oilseeds, and pulses:
  Rice (690), Wheat (614), Maize (551), Cotton (508), Pulses (496), Groundnut (424), Chilli (412), and Sugarcane (305).
</a:t>
            </a:r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Core Analytical Pipeline: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1. Data Auditing: Imputed 48 missing Rainfall values, 40 Soil Moisture values, and 32 Yield entries using localized district-season group medians.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2. Feature Engineering: Computed Cost per Hectare, Profit Margin (%), Water Efficiency (t/1000m³), and Total NPK chemical application.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3. In-Depth Seasonal EDA: Systematically addressed all 12 key AICTE research questions.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4. Statistical Validation: One-Way ANOVA and Kruskal-Wallis tests verifying statistical significance across seasons.
</a:t>
            </a:r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</a:rPr>
              <a:t>5. Actionable Roadmap: Developed seasonal crop planning and micro-irrigation guidelines.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Target Beneficiaries &amp; End Users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4 of 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1430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</a:rPr>
              <a:t>🌾 Smallholder Farmers &amp; FPOs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15087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Provides actionable guidance on seasonal crop selection, warning against water-stressed summer cereals and recommending high-margin rotations (Pulses/Groundnut/Chilli) with micro-irrigation.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488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</a:rPr>
              <a:t>🏢 Agricultural Extension Officers (KVKs)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Enables targeted agro-advisories on disease and pest prevention during humid monsoon months where disease risk exceeds 54% on average.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1089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1546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</a:rPr>
              <a:t>💧 State Irrigation &amp; Water Resources Boards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Supplies quantitative evidence to prioritize micro-irrigation (Drip/Sprinkler) subsidies over open flood canals in water-stressed districts.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1148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160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</a:rPr>
              <a:t>📊 Agri-Fintech &amp; Crop Insurance Companies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Provides empirical default risk profiles (Zaid has a 64.5% farm loss rate) to calculate fair, season-adjusted crop insurance premiums and loan terms.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51206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66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</a:rPr>
              <a:t>🏛️ Government &amp; Agricultural Planners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55321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Informs Minimum Support Price (MSP) review and seasonal power and fertilizer distribution frameworks.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Technology Stack &amp; Development Environment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5 of 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52120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DD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258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699"/>
                </a:solidFill>
              </a:rPr>
              <a:t>Python 3.10+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Core programming language for data analytics, statistical modeling, and computational scripting.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188720"/>
            <a:ext cx="52120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DD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3258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699"/>
                </a:solidFill>
              </a:rPr>
              <a:t>Pandas &amp; NumPy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16916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Vectorized data cleaning, schema validation, grouping aggregates, and feature engineering.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2834640"/>
            <a:ext cx="52120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DD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699"/>
                </a:solidFill>
              </a:rPr>
              <a:t>Matplotlib &amp; Seaborn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33375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Publication-quality visualizations: grouped boxplots, correlation heatmaps, and distribution plots.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2834640"/>
            <a:ext cx="52120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DD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2971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699"/>
                </a:solidFill>
              </a:rPr>
              <a:t>SciPy (scipy.stats)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0" y="33375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Formal hypothesis testing: One-Way ANOVA (F-test), Kruskal-Wallis H-test, and correlation metrics.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1520" y="4480560"/>
            <a:ext cx="52120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DD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177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699"/>
                </a:solidFill>
              </a:rPr>
              <a:t>Jupyter &amp; Google Colab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9834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Interactive development environment providing reproducible code execution and inline markdown reports.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4480560"/>
            <a:ext cx="52120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DD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699"/>
                </a:solidFill>
              </a:rPr>
              <a:t>Git &amp; GitHub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49834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Version control repository tracking datasets, notebooks, slide decks, and project reports.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RESULTS: Seasonal Yield &amp; Crop Profitability Ranking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6 of 14 [Code Output]</a:t>
            </a:r>
            <a:endParaRPr lang="en-US" sz="1100" dirty="0"/>
          </a:p>
        </p:txBody>
      </p:sp>
      <p:pic>
        <p:nvPicPr>
          <p:cNvPr id="5" name="Image 0" descr="C:/Users/ocotp/.gemini/antigravity/brain/2b64254e-8329-498c-9b37-019e1b1a9e41/.user_uploaded/media_178867649157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658368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98080" y="1005840"/>
            <a:ext cx="393192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143000"/>
            <a:ext cx="36576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</a:rPr>
              <a:t>Key Data Takeaways:
</a:t>
            </a:r>
            <a:pPr indent="0" marL="0">
              <a:buNone/>
            </a:pPr>
            <a:r>
              <a:rPr lang="en-US" sz="1250" b="1" dirty="0">
                <a:solidFill>
                  <a:srgbClr val="006699"/>
                </a:solidFill>
              </a:rPr>
              <a:t>• Figure 1A (Yield Boxplot):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Kharif mean yield is highest at 5.64 t/ha, followed by Rabi (5.08 t/ha) and Zaid (4.67 t/ha).
  - Outliers (&gt;40 t/ha) reflect sugarcane stalk harvest.
</a:t>
            </a:r>
            <a:pPr indent="0" marL="0">
              <a:buNone/>
            </a:pPr>
            <a:r>
              <a:rPr lang="en-US" sz="1250" b="1" dirty="0">
                <a:solidFill>
                  <a:srgbClr val="006699"/>
                </a:solidFill>
              </a:rPr>
              <a:t>• Figure 1B (Profit Ranking):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Sugarcane (+₹96.8K/ha) and Chilli (+₹91.8K/ha) lead agricultural profitability.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Cotton (+₹16.2K/ha) and Groundnut (+₹7.4K/ha) remain solvent.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Severe Cereal Deficit: Pulses (-₹546/ha), Maize (-₹10.3K/ha), Rice (-₹13.4K/ha), and Wheat (-₹16.2K/ha) show negative net margins.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114800"/>
          <a:ext cx="6583680" cy="2194560"/>
        </p:xfrm>
        <a:graphic>
          <a:graphicData uri="http://schemas.openxmlformats.org/drawingml/2006/table">
            <a:tbl>
              <a:tblPr/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Cropping Season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Sample (N)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 Yield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Avg Farm Profit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Solvency (%)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Kharif (Monsoon)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1,779 (44.5%)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5.64 t/ha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+₹1,78,915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57.8%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Rabi (Winter)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1,627 (40.7%)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5.08 t/ha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+₹87,689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48.9%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Zaid (Summer)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594 (14.8%)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4.67 t/ha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62828"/>
                          </a:solidFill>
                        </a:rPr>
                        <a:t>-₹24,805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62828"/>
                          </a:solidFill>
                        </a:rPr>
                        <a:t>35.5%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RESULTS: Climatological Dynamics &amp; Correlation Analysis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7 of 14 [Code Output]</a:t>
            </a:r>
            <a:endParaRPr lang="en-US" sz="1100" dirty="0"/>
          </a:p>
        </p:txBody>
      </p:sp>
      <p:pic>
        <p:nvPicPr>
          <p:cNvPr id="5" name="Image 0" descr="C:/Users/ocotp/.gemini/antigravity/brain/2b64254e-8329-498c-9b37-019e1b1a9e41/.user_uploaded/media_17886764916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658368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98080" y="1005840"/>
            <a:ext cx="393192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143000"/>
            <a:ext cx="36576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</a:rPr>
              <a:t>Correlation &amp; Climate Insights:
</a:t>
            </a:r>
            <a:pPr indent="0" marL="0">
              <a:buNone/>
            </a:pPr>
            <a:r>
              <a:rPr lang="en-US" sz="1250" b="1" dirty="0">
                <a:solidFill>
                  <a:srgbClr val="006699"/>
                </a:solidFill>
              </a:rPr>
              <a:t>• Figure 2A (Correlation Heatmap):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Rainfall vs Pest Risk (r = +0.62) &amp; Humidity vs Pest Risk (r = +0.55): Confirms moist monsoon conditions trigger disease outbreaks.
  - Soil Moisture vs Rainfall (r = +0.52): Strong hydrologic coupling.
  - Pesticide vs Pest Risk (r = -0.47): Protective effect of timely chemical control.
</a:t>
            </a:r>
            <a:pPr indent="0" marL="0">
              <a:buNone/>
            </a:pPr>
            <a:r>
              <a:rPr lang="en-US" sz="1250" b="1" dirty="0">
                <a:solidFill>
                  <a:srgbClr val="006699"/>
                </a:solidFill>
              </a:rPr>
              <a:t>• Figure 2B (Rainfall vs Yield Scatter):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Flat regression slope indicates that sheer rainfall volume alone does not guarantee higher yield—drainage and crop choice are critical.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Sugarcane (points at top) thrives in Kharif (&gt;800 mm rain).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114800"/>
          <a:ext cx="6583680" cy="219456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Season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Rainfall (mm)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Temperature (°C)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Humidity (%)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Sunlight (hrs/day)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Pest Risk (%)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Kharif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852.1 mm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28.5°C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71.8%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6.79 hrs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62828"/>
                          </a:solidFill>
                        </a:rPr>
                        <a:t>54.5%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Rabi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436.0 mm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23.5°C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57.9%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7.59 hrs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40.5%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Zaid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299.4 mm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31.0°C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52.0%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8.18 hrs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38.2%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RESULTS: Irrigation Systems &amp; Water Efficiency Distributions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8 of 14 [Code Output]</a:t>
            </a:r>
            <a:endParaRPr lang="en-US" sz="1100" dirty="0"/>
          </a:p>
        </p:txBody>
      </p:sp>
      <p:pic>
        <p:nvPicPr>
          <p:cNvPr id="5" name="Image 0" descr="C:/Users/ocotp/.gemini/antigravity/brain/2b64254e-8329-498c-9b37-019e1b1a9e41/.user_uploaded/media_178867649157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658368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98080" y="1005840"/>
            <a:ext cx="393192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143000"/>
            <a:ext cx="36576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</a:rPr>
              <a:t>Irrigation &amp; Hydrologic Insights:
</a:t>
            </a:r>
            <a:pPr indent="0" marL="0">
              <a:buNone/>
            </a:pPr>
            <a:r>
              <a:rPr lang="en-US" sz="1250" b="1" dirty="0">
                <a:solidFill>
                  <a:srgbClr val="006699"/>
                </a:solidFill>
              </a:rPr>
              <a:t>• Figure 1C (Efficiency Distributions):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Zaid water efficiency curve is shifted leftwards (mean 4.41 t/1000m³) due to high evaporative demand.
  - Kharif and Rabi exhibit long right tails reflecting micro-drip irrigated sugarcane/maize farms (&gt;20 t/1000m³).
</a:t>
            </a:r>
            <a:pPr indent="0" marL="0">
              <a:buNone/>
            </a:pPr>
            <a:r>
              <a:rPr lang="en-US" sz="1250" b="1" dirty="0">
                <a:solidFill>
                  <a:srgbClr val="006699"/>
                </a:solidFill>
              </a:rPr>
              <a:t>• Figure 1D (Irrigation Proportions):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Flood irrigation (orange) accounts for 32–33% across all seasons.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Drip (red) represents 23% of farms.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Sprinkler (purple) represents 18–20% of farms.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Rainfed (green) represents 26% in Kharif/Rabi, dropping in summer.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114800"/>
          <a:ext cx="6583680" cy="2194560"/>
        </p:xfrm>
        <a:graphic>
          <a:graphicData uri="http://schemas.openxmlformats.org/drawingml/2006/table">
            <a:tbl>
              <a:tblPr/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Irrigation Method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Observations (N)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Water Efficiency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Mean Groundwater Used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Mean Net Profit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Drip Irrigation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915 (22.9%)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</a:rPr>
                        <a:t>6.27 t/1000m³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6,009 m³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</a:rPr>
                        <a:t>+₹2,19,626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Sprinkler Irrigation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734 (18.4%)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4.67 t/1000m³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5,885 m³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+₹91,121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Flood Irrigation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1,310 (32.8%)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</a:rPr>
                        <a:t>3.44 t/1000m³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9,812 m³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+₹73,354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Rainfed Farming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1,041 (26.0%)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7.56 t/1000m³*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3,248 m³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+₹79,050</a:t>
                      </a:r>
                      <a:endParaRPr lang="en-US" sz="10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RESULTS: Executive KPI Dashboard &amp; Regional Profitability Matrix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9 of 14 [Code Output]</a:t>
            </a:r>
            <a:endParaRPr lang="en-US" sz="1100" dirty="0"/>
          </a:p>
        </p:txBody>
      </p:sp>
      <p:pic>
        <p:nvPicPr>
          <p:cNvPr id="5" name="Image 0" descr="C:/Users/ocotp/.gemini/antigravity/brain/2b64254e-8329-498c-9b37-019e1b1a9e41/.user_uploaded/media_178867649158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658368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98080" y="1005840"/>
            <a:ext cx="393192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143000"/>
            <a:ext cx="36576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</a:rPr>
              <a:t>Dashboard &amp; Regional Insights:
</a:t>
            </a:r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</a:rPr>
              <a:t>• Top KPI Summary: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  - Total Sector Revenue: ₹255.14 Crores
  - Overall Farm Solvency Rate: 50.8%
  - Average Water Productivity: 5.39 t/1000m³
</a:t>
            </a:r>
            <a:pPr indent="0" marL="0">
              <a:buNone/>
            </a:pPr>
            <a:r>
              <a:rPr lang="en-US" sz="1250" b="1" dirty="0">
                <a:solidFill>
                  <a:srgbClr val="006699"/>
                </a:solidFill>
              </a:rPr>
              <a:t>• Figure 3A (State vs Season Matrix):
</a:t>
            </a:r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  - Kharif is positive in every state (Telangana ₹26.4K/ha, Karnataka ₹24.5K/ha, Gujarat ₹23.5K/ha).
  - Zaid summer losses hit Andhra Pradesh (-₹8.5K/ha), Gujarat (-₹7.5K/ha), and Telangana (-₹6.3K/ha) hardest.
  - Punjab (+₹6.4K/ha) and Karnataka (+₹4.9K/ha) stay positive in summer due to robust tubewell/canal networks.
</a:t>
            </a:r>
            <a:pPr indent="0" marL="0">
              <a:buNone/>
            </a:pPr>
            <a:r>
              <a:rPr lang="en-US" sz="1250" b="1" dirty="0">
                <a:solidFill>
                  <a:srgbClr val="006699"/>
                </a:solidFill>
              </a:rPr>
              <a:t>• Figure 3B (Irrigation Impact):
</a:t>
            </a:r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  - Drip delivers ₹25,600/ha profit vs Flood at ₹8,800/ha (nearly 3x higher).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4389120"/>
            <a:ext cx="65836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480560"/>
            <a:ext cx="6217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66"/>
                </a:solidFill>
              </a:rPr>
              <a:t>Core Takeaway from Dashboard:
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Agricultural viability is determined by the intersection of </a:t>
            </a:r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</a:rPr>
              <a:t>Season x Irrigation Method x State Infrastructure.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Farms with modern drip irrigation in irrigated states maintain solvency even during hot summer cycles, while traditional flood-irrigated farms suffer heavy financial losses.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RESULTS: Formal Statistical Hypothesis Testing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10 of 14 [Statistical Proof]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</a:rPr>
              <a:t>Hypothesis Framework:
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• H0: Cropping season has no statistically significant effect on agricultural performance metrics.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• H1: Statistically significant differences exist across Kharif, Rabi, and Zaid seasons (alpha = 0.05).</a:t>
            </a:r>
            <a:endParaRPr lang="en-US" sz="14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28800"/>
          <a:ext cx="10698480" cy="2834640"/>
        </p:xfrm>
        <a:graphic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0494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Target Metric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ANOVA F-Statistic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p-value (ANOVA)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Kruskal-Wallis 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Statistical Decision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Net Farm Profit (INR)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 = 34.292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 = 1.63e-15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 = 82.41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Reject H0 (p &lt; 0.001)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Disease &amp; Pest Risk (%)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 = 1049.467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 &lt; 1e-100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 = 1421.15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Reject H0 (p &lt; 0.0001)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Rice Yield by Season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 = 22.170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 = 4.28e-10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 = 43.19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Reject H0 (p &lt; 0.001)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Pulses Yield by Season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 = 23.816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 = 1.15e-10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 = 46.85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Reject H0 (p &lt; 0.001)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Wheat Yield by Season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 = 11.027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 = 1.84e-05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 = 22.08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Reject H0 (p &lt; 0.001)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Maize Yield by Season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 = 10.684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 = 2.62e-05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 = 21.41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Reject H0 (p &lt; 0.001)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48463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66"/>
                </a:solidFill>
              </a:rPr>
              <a:t>Empirical Verification:
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• While overall yield variance across all combined crops is dominated by sugarcane biomass, evaluating crops individually proves that seasonal decline (Kharif &gt; Rabi &gt; Zaid) is overwhelmingly statistically significant across all staples.
</a:t>
            </a:r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</a:rPr>
              <a:t>• Both parametric (One-Way ANOVA) and non-parametric (Kruskal-Wallis) tests confirm that seasonal variations dictate crop yields, farm water requirements, and financial returns with &gt;99.9% statistical confidence.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Future Scope &amp; Technological Enhancements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11 of 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🤖 Predictive Machine Learning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Develop XGBoost &amp; Random Forest regression models to predict farm yield and profit margin before sowing, using forecasted rainfall and seasonal temperature indicators.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4173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📡 IoT Precision Soil &amp; Moisture Monitoring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187452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Deploy automated solar-powered LoRaWAN soil moisture probes to trigger micro-drip irrigation autonomously, eliminating summer evaporative losses.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8862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🛰️ Multispectral Satellite Remote Sensing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434340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Integrate European Space Agency (Sentinel-2) NDVI and NDRE spectral indices for real-time vegetative stress tracking and early monsoon pest detection.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749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38862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📱 Vernacular Farmer Advisory Interface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0" y="434340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</a:rPr>
              <a:t>Build an offline-first mobile app in regional Indian languages (Telugu, Marathi, Punjabi, Tamil) delivering personalized crop selection and fertilizer optimization advisories.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Project Deliverables &amp; GitHub Repository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12 of 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106984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</a:rPr>
              <a:t>🔗 GitHub Repository URL: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965960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99"/>
                </a:solidFill>
              </a:rPr>
              <a:t>https://github.com/ocotpi/Seasonal-Agriculture-Performance-Analysis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99669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</a:rPr>
              <a:t>Repository Contents &amp; Reproducibility:
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📁 Seasonal_Agriculture_Performance_Analysis.ipynb  — Complete Jupyter Notebook with code, plots &amp; findings
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📁 seasonal_agriculture_data.csv                    — 4,000-record cleaned dataset across 8 states and 8 crops
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📁 Presentation_Slide_Deck.md                       — 14-slide structured markdown presentation guide
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📁 Seasonal_Agriculture_Performance_Analysis_Presentation.pptx — Complete 14-slide PowerPoint file
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📁 PROJECT_REPORT.md                                — Complete formal academic report and methodology write-up
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📁 VIVA_VOCE_PREPARATION_GUIDE.md                  — 15+ oral defense Q&amp;As and slide talking points
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📁 requirements.txt                                 — Environment dependencies (pandas, numpy, matplotlib, seaborn, scipy)
</a:t>
            </a:r>
            <a:pPr indent="0" marL="0">
              <a:buNone/>
            </a:pPr>
            <a:r>
              <a:rPr lang="en-US" sz="1350" b="1" dirty="0">
                <a:solidFill>
                  <a:srgbClr val="003366"/>
                </a:solidFill>
              </a:rPr>
              <a:t>Reproducibility Command:
</a:t>
            </a:r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</a:rPr>
              <a:t>git clone https://github.com/ocotpi/Seasonal-Agriculture-Performance-Analysis.git</a:t>
            </a:r>
            <a:endParaRPr lang="en-US" sz="1450" dirty="0"/>
          </a:p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</a:rPr>
              <a:t>pip install -r requirements.txt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Course Completion Certificate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EFB"/>
                </a:solidFill>
              </a:rPr>
              <a:t>Slide 13 of 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371600" y="1371600"/>
            <a:ext cx="9418320" cy="4846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64592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VOIS for Tech Learning Certification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214884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6666"/>
                </a:solidFill>
              </a:rPr>
              <a:t>Vodafone Idea Foundation &amp; Edunet Foundation in association with AICTE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265176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Course Name: 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22222"/>
                </a:solidFill>
              </a:rPr>
              <a:t>Data Visualization
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Awarded to: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Asmi Sharma
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Institution: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Chandigarh University (BE CSE 2026)
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AICTE Student ID: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STU6a65f9036e5721785067779
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Internship Program: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VOIS for Tech - Data Analytics Internship Batch 1
</a:t>
            </a:r>
            <a:pPr algn="l"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03366"/>
                </a:solidFill>
              </a:rPr>
              <a:t>Competencies Mastered: </a:t>
            </a:r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22222"/>
                </a:solidFill>
              </a:rPr>
              <a:t>Exploratory Data Analysis, Multi-Variate Plotting, Visual Analytics, Agro-Economic Reporting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114800" y="5394960"/>
            <a:ext cx="3931920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0" y="54864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✔ Verified &amp; Completed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0669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630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3366"/>
                </a:solidFill>
              </a:rPr>
              <a:t>Thank You!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55555"/>
                </a:solidFill>
              </a:rPr>
              <a:t>Empirical Evidence for Climate-Resilient Agricultural Planning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645920" y="3108960"/>
            <a:ext cx="88696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txBody>
          <a:bodyPr wrap="square" lIns="190500" tIns="190500" rIns="190500" bIns="1905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66"/>
                </a:solidFill>
              </a:rPr>
              <a:t>Core Project Takeaway:
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</a:rPr>
              <a:t>"Agricultural performance in India is structurally seasonal. By transitioning from open flood irrigation to precision drip emitters and rotating water-intensive staples into summer cash crops, smallholder farm solvency can be increased by over 30%."
</a:t>
            </a:r>
            <a:pPr algn="ctr" indent="0" marL="0">
              <a:buNone/>
            </a:pPr>
            <a:r>
              <a:rPr lang="en-US" sz="1450" b="1" dirty="0">
                <a:solidFill>
                  <a:srgbClr val="003366"/>
                </a:solidFill>
              </a:rPr>
              <a:t>Acknowledgements:
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Sincere gratitude to AICTE, Edunet Foundation, and Vodafone Idea Foundation (VOIS for Tech Program) for mentorship and project support.
</a:t>
            </a:r>
            <a:pPr algn="ctr" indent="0" marL="0">
              <a:buNone/>
            </a:pPr>
            <a:r>
              <a:rPr lang="en-US" sz="1350" b="1" dirty="0">
                <a:solidFill>
                  <a:srgbClr val="003366"/>
                </a:solidFill>
              </a:rPr>
              <a:t>Student Contact: </a:t>
            </a:r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</a:rPr>
              <a:t>Asmi Sharma | Chandigarh University (STU6a65f9036e5721785067779)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2026-09-06T06:36:39Z</dcterms:created>
  <dcterms:modified xsi:type="dcterms:W3CDTF">2026-09-06T06:36:39Z</dcterms:modified>
</cp:coreProperties>
</file>