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7" r:id="rId11"/>
    <p:sldId id="348" r:id="rId12"/>
    <p:sldId id="349" r:id="rId13"/>
    <p:sldId id="341" r:id="rId14"/>
    <p:sldId id="350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9/6/2026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cotpi/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5592" y="4109805"/>
            <a:ext cx="3176362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Asmi Sharma 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Chandigarh University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043" y="2481301"/>
            <a:ext cx="11649914" cy="743448"/>
          </a:xfrm>
        </p:spPr>
        <p:txBody>
          <a:bodyPr>
            <a:noAutofit/>
          </a:bodyPr>
          <a:lstStyle/>
          <a:p>
            <a:r>
              <a:rPr lang="en-IN" sz="3700" b="1" dirty="0">
                <a:solidFill>
                  <a:schemeClr val="accent4">
                    <a:lumMod val="75000"/>
                  </a:schemeClr>
                </a:solidFill>
              </a:rPr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7" y="6383774"/>
            <a:ext cx="5671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AICTE STU ID: </a:t>
            </a:r>
            <a:r>
              <a:rPr lang="en-IN" b="1" dirty="0">
                <a:solidFill>
                  <a:schemeClr val="accent4"/>
                </a:solidFill>
              </a:rPr>
              <a:t>STU6a65f9036e5721785067779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36B4C0-F098-53A1-F60D-5B9702799E01}"/>
              </a:ext>
            </a:extLst>
          </p:cNvPr>
          <p:cNvSpPr txBox="1"/>
          <p:nvPr/>
        </p:nvSpPr>
        <p:spPr>
          <a:xfrm>
            <a:off x="271043" y="3105834"/>
            <a:ext cx="9253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555555"/>
                </a:solidFill>
              </a:rPr>
              <a:t>Empirical Data Analytics &amp; Crop Economics Across 4,000 Multi-State Farm Observations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1" y="1625006"/>
            <a:ext cx="7586965" cy="4766463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IN" sz="1800" dirty="0"/>
              <a:t>Agricultural performance in India fluctuates heavily across seasons due to changing monsoon intensity, temperature extremes, irrigation access, and market price dynamics.</a:t>
            </a:r>
          </a:p>
          <a:p>
            <a:pPr lvl="0"/>
            <a:r>
              <a:rPr lang="en-IN" sz="1800" b="1" dirty="0"/>
              <a:t>The Core Problem:</a:t>
            </a:r>
            <a:r>
              <a:rPr lang="en-IN" sz="1800" dirty="0"/>
              <a:t> Raw farm records record what happened, but fail to explain </a:t>
            </a:r>
            <a:r>
              <a:rPr lang="en-IN" sz="1800" i="1" dirty="0"/>
              <a:t>why</a:t>
            </a:r>
            <a:r>
              <a:rPr lang="en-IN" sz="1800" dirty="0"/>
              <a:t> yields, operational costs, and farm profits vary so sharply between </a:t>
            </a:r>
            <a:r>
              <a:rPr lang="en-IN" sz="1800" b="1" dirty="0"/>
              <a:t>Kharif (Monsoon), Rabi (Winter), and Zaid (Summer)</a:t>
            </a:r>
            <a:r>
              <a:rPr lang="en-IN" sz="1800" dirty="0"/>
              <a:t> cycles.</a:t>
            </a:r>
          </a:p>
          <a:p>
            <a:pPr lvl="0"/>
            <a:r>
              <a:rPr lang="en-IN" sz="1800" b="1" dirty="0"/>
              <a:t>The Practical Challenge:</a:t>
            </a:r>
            <a:r>
              <a:rPr lang="en-IN" sz="1800" dirty="0"/>
              <a:t> Farmers often apply uniform inputs regardless of season, resulting in high resource wastage (e.g., flood irrigation during summer heatwaves) or catastrophic pest losses during monsoon humidity.</a:t>
            </a:r>
          </a:p>
          <a:p>
            <a:pPr lvl="0"/>
            <a:r>
              <a:rPr lang="en-IN" sz="1800" b="1" dirty="0"/>
              <a:t>Project Goal:</a:t>
            </a:r>
            <a:r>
              <a:rPr lang="en-IN" sz="1800" dirty="0"/>
              <a:t> </a:t>
            </a:r>
            <a:r>
              <a:rPr lang="en-IN" sz="1800" dirty="0" err="1"/>
              <a:t>Analyze</a:t>
            </a:r>
            <a:r>
              <a:rPr lang="en-IN" sz="1800" dirty="0"/>
              <a:t> 4,000 multi-state farm observations to uncover seasonal inefficiencies, identify crop-specific risk factors, statistically validate seasonal differences, and deliver actionable recommendations for crop planning.</a:t>
            </a:r>
          </a:p>
          <a:p>
            <a:pPr lvl="0"/>
            <a:endParaRPr lang="en-IN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B78D3-98C8-FFBB-2FD0-5495C5AB0890}"/>
              </a:ext>
            </a:extLst>
          </p:cNvPr>
          <p:cNvSpPr txBox="1"/>
          <p:nvPr/>
        </p:nvSpPr>
        <p:spPr>
          <a:xfrm>
            <a:off x="467359" y="1636210"/>
            <a:ext cx="950706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Domain: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Agro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-Climatic Data Analytics, Agricultural Economics &amp; Resource Management.</a:t>
            </a:r>
          </a:p>
          <a:p>
            <a:pPr marL="285750" lvl="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Dataset Scope: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4,000 empirical farm records spanning 8 key agricultural states (Andhra Pradesh, Gujarat, Karnataka, Madhya Pradesh, Maharashtra, Punjab, Tamil Nadu, Telangana) and 8 major crops (Wheat, Rice, Maize, Pulses, Cotton, Groundnut, Sugarcane, Chilli).</a:t>
            </a:r>
          </a:p>
          <a:p>
            <a:pPr marL="285750" lvl="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Core Methodology: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57250" lvl="1" indent="-400050">
              <a:buClr>
                <a:schemeClr val="tx1">
                  <a:lumMod val="75000"/>
                  <a:lumOff val="25000"/>
                </a:schemeClr>
              </a:buClr>
              <a:buSzPct val="90000"/>
              <a:buFont typeface="+mj-lt"/>
              <a:buAutoNum type="arabicPeriod"/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Auditing &amp; Preprocessing: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Identified missing values in Rainfall (48 rows), Soil Moisture (40 rows), and Yield (32 rows); applied district-and-season group median imputation to preserve local microclimates.</a:t>
            </a:r>
          </a:p>
          <a:p>
            <a:pPr marL="857250" lvl="1" indent="-400050">
              <a:buClr>
                <a:schemeClr val="tx1">
                  <a:lumMod val="75000"/>
                  <a:lumOff val="25000"/>
                </a:schemeClr>
              </a:buClr>
              <a:buSzPct val="90000"/>
              <a:buFont typeface="+mj-lt"/>
              <a:buAutoNum type="arabicPeriod"/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Feature Engineering: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Calculated Profit Margins, Cost per Hectare, Revenue per Hectare, Total NPK chemical load, and Water Productivity ratios.</a:t>
            </a:r>
          </a:p>
          <a:p>
            <a:pPr marL="857250" lvl="1" indent="-400050">
              <a:buClr>
                <a:schemeClr val="tx1">
                  <a:lumMod val="75000"/>
                  <a:lumOff val="25000"/>
                </a:schemeClr>
              </a:buClr>
              <a:buSzPct val="90000"/>
              <a:buFont typeface="+mj-lt"/>
              <a:buAutoNum type="arabicPeriod"/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Comprehensive EDA: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Answered all 12 AICTE research questions across agronomic, environmental, and financial dimensions.</a:t>
            </a:r>
          </a:p>
          <a:p>
            <a:pPr marL="857250" lvl="1" indent="-400050">
              <a:buClr>
                <a:schemeClr val="tx1">
                  <a:lumMod val="75000"/>
                  <a:lumOff val="25000"/>
                </a:schemeClr>
              </a:buClr>
              <a:buSzPct val="90000"/>
              <a:buFont typeface="+mj-lt"/>
              <a:buAutoNum type="arabicPeriod"/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Hypothesis Testing: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Conducted One-Way ANOVA and Kruskal-Wallis non-parametric tests to confirm statistical significance of seasonal shifts.</a:t>
            </a:r>
          </a:p>
          <a:p>
            <a:pPr marL="857250" lvl="1" indent="-400050">
              <a:buClr>
                <a:schemeClr val="tx1">
                  <a:lumMod val="75000"/>
                  <a:lumOff val="25000"/>
                </a:schemeClr>
              </a:buClr>
              <a:buSzPct val="90000"/>
              <a:buFont typeface="+mj-lt"/>
              <a:buAutoNum type="arabicPeriod"/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Decision Framework: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Formulated a season-wise crop rotation and irrigation advisory matrix for smallholders.</a:t>
            </a:r>
          </a:p>
          <a:p>
            <a:b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7" y="661879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8" name="Shape 3">
            <a:extLst>
              <a:ext uri="{FF2B5EF4-FFF2-40B4-BE49-F238E27FC236}">
                <a16:creationId xmlns:a16="http://schemas.microsoft.com/office/drawing/2014/main" id="{A6B10AB9-D486-A6C3-4FF1-AB7860AF60BD}"/>
              </a:ext>
            </a:extLst>
          </p:cNvPr>
          <p:cNvSpPr/>
          <p:nvPr/>
        </p:nvSpPr>
        <p:spPr>
          <a:xfrm>
            <a:off x="531832" y="1505234"/>
            <a:ext cx="9022716" cy="965971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rgbClr val="003366"/>
                </a:solidFill>
              </a:rPr>
              <a:t>🌾 Smallholder Farmers &amp; FPOs</a:t>
            </a:r>
            <a:endParaRPr lang="en-US" sz="1600" dirty="0"/>
          </a:p>
          <a:p>
            <a:r>
              <a:rPr lang="en-US" sz="1400" dirty="0">
                <a:solidFill>
                  <a:srgbClr val="222222"/>
                </a:solidFill>
              </a:rPr>
              <a:t>Provides actionable guidance on seasonal crop selection, warning against water-stressed summer cereals and recommending high-margin rotations (Pulses/Groundnut/Chilli) with micro-irrigation.</a:t>
            </a:r>
            <a:endParaRPr lang="en-US" sz="1400" dirty="0"/>
          </a:p>
          <a:p>
            <a:endParaRPr lang="en-IN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2AD80811-7ABC-C4BD-0323-9C1C3D326368}"/>
              </a:ext>
            </a:extLst>
          </p:cNvPr>
          <p:cNvSpPr/>
          <p:nvPr/>
        </p:nvSpPr>
        <p:spPr>
          <a:xfrm>
            <a:off x="531832" y="2552633"/>
            <a:ext cx="9046141" cy="86868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rgbClr val="003366"/>
                </a:solidFill>
              </a:rPr>
              <a:t>🏢 Agricultural Extension Officers (KVKs)</a:t>
            </a:r>
            <a:endParaRPr lang="en-US" sz="1600" dirty="0"/>
          </a:p>
          <a:p>
            <a:r>
              <a:rPr lang="en-US" sz="1400" dirty="0">
                <a:solidFill>
                  <a:srgbClr val="222222"/>
                </a:solidFill>
              </a:rPr>
              <a:t>Enables targeted </a:t>
            </a:r>
            <a:r>
              <a:rPr lang="en-US" sz="1400" dirty="0" err="1">
                <a:solidFill>
                  <a:srgbClr val="222222"/>
                </a:solidFill>
              </a:rPr>
              <a:t>agro</a:t>
            </a:r>
            <a:r>
              <a:rPr lang="en-US" sz="1400" dirty="0">
                <a:solidFill>
                  <a:srgbClr val="222222"/>
                </a:solidFill>
              </a:rPr>
              <a:t>-advisories on disease and pest prevention during humid monsoon months where disease risk exceeds 54% on average.</a:t>
            </a:r>
            <a:endParaRPr lang="en-US" sz="1400" dirty="0"/>
          </a:p>
          <a:p>
            <a:endParaRPr lang="en-IN" sz="16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423DBBA4-E0FF-FB25-DE0D-6F62A1A09C70}"/>
              </a:ext>
            </a:extLst>
          </p:cNvPr>
          <p:cNvSpPr/>
          <p:nvPr/>
        </p:nvSpPr>
        <p:spPr>
          <a:xfrm>
            <a:off x="531832" y="3517039"/>
            <a:ext cx="9046141" cy="86868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rgbClr val="003366"/>
                </a:solidFill>
              </a:rPr>
              <a:t>💧 State Irrigation &amp; Water Resources Boards</a:t>
            </a:r>
            <a:endParaRPr lang="en-US" sz="1600" dirty="0"/>
          </a:p>
          <a:p>
            <a:r>
              <a:rPr lang="en-US" sz="1400" dirty="0">
                <a:solidFill>
                  <a:srgbClr val="222222"/>
                </a:solidFill>
              </a:rPr>
              <a:t>Supplies quantitative evidence to prioritize micro-irrigation (Drip/Sprinkler) subsidies over open flood canals in water-stressed districts.</a:t>
            </a:r>
            <a:endParaRPr lang="en-US" sz="1400" dirty="0"/>
          </a:p>
          <a:p>
            <a:endParaRPr lang="en-IN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88C54547-D38F-38B6-C6F9-532B0DA31E86}"/>
              </a:ext>
            </a:extLst>
          </p:cNvPr>
          <p:cNvSpPr/>
          <p:nvPr/>
        </p:nvSpPr>
        <p:spPr>
          <a:xfrm>
            <a:off x="544064" y="4481445"/>
            <a:ext cx="9046141" cy="86868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rgbClr val="003366"/>
                </a:solidFill>
              </a:rPr>
              <a:t>📊 Agri-Fintech &amp; Crop Insurance Companie</a:t>
            </a:r>
            <a:r>
              <a:rPr lang="en-US" sz="1400" b="1" dirty="0">
                <a:solidFill>
                  <a:srgbClr val="003366"/>
                </a:solidFill>
              </a:rPr>
              <a:t>s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Provides empirical default risk profiles (Zaid has a 64.5% farm loss rate) to calculate fair, season-adjusted crop insurance premiums and loan terms.</a:t>
            </a:r>
            <a:endParaRPr lang="en-US" sz="1400" dirty="0"/>
          </a:p>
          <a:p>
            <a:endParaRPr lang="en-IN" sz="14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7B565C1C-091A-44F2-976C-2E2129FEB87A}"/>
              </a:ext>
            </a:extLst>
          </p:cNvPr>
          <p:cNvSpPr/>
          <p:nvPr/>
        </p:nvSpPr>
        <p:spPr>
          <a:xfrm>
            <a:off x="544064" y="5445851"/>
            <a:ext cx="9046141" cy="86868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rgbClr val="003366"/>
                </a:solidFill>
              </a:rPr>
              <a:t>🏛️ Government &amp; Agricultural Planners</a:t>
            </a:r>
            <a:endParaRPr lang="en-US" sz="1600" dirty="0"/>
          </a:p>
          <a:p>
            <a:r>
              <a:rPr lang="en-US" sz="1400" dirty="0">
                <a:solidFill>
                  <a:srgbClr val="222222"/>
                </a:solidFill>
              </a:rPr>
              <a:t>Informs Minimum Support Price (MSP) review and seasonal power and fertilizer distribution frameworks.</a:t>
            </a:r>
            <a:endParaRPr lang="en-US" sz="1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6418454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4DCBCEDA-0195-DA2D-D97C-7948D200538A}"/>
              </a:ext>
            </a:extLst>
          </p:cNvPr>
          <p:cNvSpPr/>
          <p:nvPr/>
        </p:nvSpPr>
        <p:spPr>
          <a:xfrm>
            <a:off x="2232533" y="1608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99"/>
                </a:solidFill>
              </a:rPr>
              <a:t>Python 3.10+</a:t>
            </a:r>
            <a:endParaRPr lang="en-US" sz="15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A38E06C-4033-AD83-AF63-D711BB6B4E5A}"/>
              </a:ext>
            </a:extLst>
          </p:cNvPr>
          <p:cNvSpPr/>
          <p:nvPr/>
        </p:nvSpPr>
        <p:spPr>
          <a:xfrm>
            <a:off x="2232533" y="19740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Core programming language for data analytics, statistical modeling, and computational scripting.</a:t>
            </a:r>
            <a:endParaRPr lang="en-US" sz="125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5F25BE78-763C-19B6-716B-9C42BF77F90B}"/>
              </a:ext>
            </a:extLst>
          </p:cNvPr>
          <p:cNvSpPr/>
          <p:nvPr/>
        </p:nvSpPr>
        <p:spPr>
          <a:xfrm>
            <a:off x="7383653" y="1623480"/>
            <a:ext cx="4361719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DEE"/>
            </a:solidFill>
            <a:prstDash val="solid"/>
          </a:ln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1BE7EBEB-2996-5993-3B4E-C3B3C4C4014C}"/>
              </a:ext>
            </a:extLst>
          </p:cNvPr>
          <p:cNvSpPr/>
          <p:nvPr/>
        </p:nvSpPr>
        <p:spPr>
          <a:xfrm>
            <a:off x="7566533" y="1760640"/>
            <a:ext cx="40034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99"/>
                </a:solidFill>
              </a:rPr>
              <a:t>Pandas &amp; NumPy</a:t>
            </a:r>
            <a:endParaRPr lang="en-US" sz="15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EA2FEF21-FD27-286B-7B50-56FFE873E9FD}"/>
              </a:ext>
            </a:extLst>
          </p:cNvPr>
          <p:cNvSpPr/>
          <p:nvPr/>
        </p:nvSpPr>
        <p:spPr>
          <a:xfrm>
            <a:off x="7566533" y="2126400"/>
            <a:ext cx="4178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Vectorized data cleaning, schema validation, grouping aggregates, and feature engineering.</a:t>
            </a:r>
            <a:endParaRPr lang="en-US" sz="125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83CDB1FB-7D4B-8242-FAC0-8D52BD2C993F}"/>
              </a:ext>
            </a:extLst>
          </p:cNvPr>
          <p:cNvSpPr/>
          <p:nvPr/>
        </p:nvSpPr>
        <p:spPr>
          <a:xfrm>
            <a:off x="2232533" y="3254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99"/>
                </a:solidFill>
              </a:rPr>
              <a:t>Matplotlib &amp; Seaborn</a:t>
            </a:r>
            <a:endParaRPr lang="en-US" sz="15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9FD45A95-933F-3897-9591-FECCC2626075}"/>
              </a:ext>
            </a:extLst>
          </p:cNvPr>
          <p:cNvSpPr/>
          <p:nvPr/>
        </p:nvSpPr>
        <p:spPr>
          <a:xfrm>
            <a:off x="2232533" y="36199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Publication-quality visualizations: grouped boxplots, correlation heatmaps, and distribution plots.</a:t>
            </a:r>
            <a:endParaRPr lang="en-US" sz="1250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E293C086-F72D-5112-7E17-9AA856AF046C}"/>
              </a:ext>
            </a:extLst>
          </p:cNvPr>
          <p:cNvSpPr/>
          <p:nvPr/>
        </p:nvSpPr>
        <p:spPr>
          <a:xfrm>
            <a:off x="7383653" y="3269400"/>
            <a:ext cx="4361719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DEE"/>
            </a:solidFill>
            <a:prstDash val="solid"/>
          </a:ln>
        </p:spPr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80C11666-5E44-9E42-6D97-27543D4483D3}"/>
              </a:ext>
            </a:extLst>
          </p:cNvPr>
          <p:cNvSpPr/>
          <p:nvPr/>
        </p:nvSpPr>
        <p:spPr>
          <a:xfrm>
            <a:off x="7566533" y="3406560"/>
            <a:ext cx="240789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99"/>
                </a:solidFill>
              </a:rPr>
              <a:t>SciPy (scipy.stats)</a:t>
            </a:r>
            <a:endParaRPr lang="en-US" sz="15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ABA0B126-83F7-59A6-1ED3-86589679130E}"/>
              </a:ext>
            </a:extLst>
          </p:cNvPr>
          <p:cNvSpPr/>
          <p:nvPr/>
        </p:nvSpPr>
        <p:spPr>
          <a:xfrm>
            <a:off x="7566533" y="3772320"/>
            <a:ext cx="410419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Formal hypothesis testing: One-Way ANOVA (F-test), Kruskal-Wallis H-test, and correlation metrics.</a:t>
            </a:r>
            <a:endParaRPr lang="en-US" sz="1250" dirty="0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98C9BAFA-AABB-BEEB-60F4-83C7FD7E6C38}"/>
              </a:ext>
            </a:extLst>
          </p:cNvPr>
          <p:cNvSpPr/>
          <p:nvPr/>
        </p:nvSpPr>
        <p:spPr>
          <a:xfrm>
            <a:off x="2232533" y="4900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99"/>
                </a:solidFill>
              </a:rPr>
              <a:t>Jupyter &amp; Google Colab</a:t>
            </a:r>
            <a:endParaRPr lang="en-US" sz="1500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E32BC200-2EE7-BA7D-D252-1C5788E8C849}"/>
              </a:ext>
            </a:extLst>
          </p:cNvPr>
          <p:cNvSpPr/>
          <p:nvPr/>
        </p:nvSpPr>
        <p:spPr>
          <a:xfrm>
            <a:off x="2232533" y="52658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Interactive development environment providing reproducible code execution and inline markdown reports.</a:t>
            </a:r>
            <a:endParaRPr lang="en-US" sz="1250" dirty="0"/>
          </a:p>
        </p:txBody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86CFA073-1FF2-8460-BC5E-D24B0C1DC49A}"/>
              </a:ext>
            </a:extLst>
          </p:cNvPr>
          <p:cNvSpPr/>
          <p:nvPr/>
        </p:nvSpPr>
        <p:spPr>
          <a:xfrm>
            <a:off x="7383653" y="4915320"/>
            <a:ext cx="4361719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DEE"/>
            </a:solidFill>
            <a:prstDash val="solid"/>
          </a:ln>
        </p:spPr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9CD50456-1587-DEA1-60B6-A8DBFAECB2C0}"/>
              </a:ext>
            </a:extLst>
          </p:cNvPr>
          <p:cNvSpPr/>
          <p:nvPr/>
        </p:nvSpPr>
        <p:spPr>
          <a:xfrm>
            <a:off x="7566533" y="5052480"/>
            <a:ext cx="17920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99"/>
                </a:solidFill>
              </a:rPr>
              <a:t>Git &amp; GitHub</a:t>
            </a:r>
            <a:endParaRPr lang="en-US" sz="1500" dirty="0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E0237F2D-ED71-A52C-655A-FBA89F45A0B7}"/>
              </a:ext>
            </a:extLst>
          </p:cNvPr>
          <p:cNvSpPr/>
          <p:nvPr/>
        </p:nvSpPr>
        <p:spPr>
          <a:xfrm>
            <a:off x="7566533" y="5418240"/>
            <a:ext cx="4178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Version control repository tracking datasets, notebooks, slide decks, and project reports.</a:t>
            </a:r>
            <a:endParaRPr lang="en-US" sz="1250" dirty="0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CA1CABCE-85BF-4417-3826-68FF99F41428}"/>
              </a:ext>
            </a:extLst>
          </p:cNvPr>
          <p:cNvSpPr/>
          <p:nvPr/>
        </p:nvSpPr>
        <p:spPr>
          <a:xfrm>
            <a:off x="2202053" y="1623480"/>
            <a:ext cx="4721261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DEE"/>
            </a:solidFill>
            <a:prstDash val="solid"/>
          </a:ln>
        </p:spPr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C4A3FA85-14AB-9456-D8B5-D8F153DC009B}"/>
              </a:ext>
            </a:extLst>
          </p:cNvPr>
          <p:cNvSpPr/>
          <p:nvPr/>
        </p:nvSpPr>
        <p:spPr>
          <a:xfrm>
            <a:off x="2384933" y="1760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99"/>
                </a:solidFill>
              </a:rPr>
              <a:t>Python 3.10+</a:t>
            </a:r>
            <a:endParaRPr lang="en-US" sz="1500" dirty="0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D1DAA8E3-E878-F9C2-2A21-F9089BE29141}"/>
              </a:ext>
            </a:extLst>
          </p:cNvPr>
          <p:cNvSpPr/>
          <p:nvPr/>
        </p:nvSpPr>
        <p:spPr>
          <a:xfrm>
            <a:off x="2384933" y="21264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Core programming language for data analytics, statistical modeling, and computational scripting.</a:t>
            </a:r>
            <a:endParaRPr lang="en-US" sz="1250" dirty="0"/>
          </a:p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E512A01C-6D7F-D6BA-FA53-0EA798BAB1E2}"/>
              </a:ext>
            </a:extLst>
          </p:cNvPr>
          <p:cNvSpPr/>
          <p:nvPr/>
        </p:nvSpPr>
        <p:spPr>
          <a:xfrm>
            <a:off x="2202053" y="3269400"/>
            <a:ext cx="4721261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DEE"/>
            </a:solidFill>
            <a:prstDash val="solid"/>
          </a:ln>
        </p:spPr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9B721419-431A-5DD9-83A0-6112FC0F88C1}"/>
              </a:ext>
            </a:extLst>
          </p:cNvPr>
          <p:cNvSpPr/>
          <p:nvPr/>
        </p:nvSpPr>
        <p:spPr>
          <a:xfrm>
            <a:off x="2384933" y="3406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99"/>
                </a:solidFill>
              </a:rPr>
              <a:t>Matplotlib &amp; Seaborn</a:t>
            </a:r>
            <a:endParaRPr lang="en-US" sz="1500" dirty="0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52864B41-76DE-26D4-323B-B3C40B8DC8FC}"/>
              </a:ext>
            </a:extLst>
          </p:cNvPr>
          <p:cNvSpPr/>
          <p:nvPr/>
        </p:nvSpPr>
        <p:spPr>
          <a:xfrm>
            <a:off x="2384933" y="3772320"/>
            <a:ext cx="4538381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Publication-quality visualizations: grouped boxplots, correlation heatmaps, and distribution plots.</a:t>
            </a:r>
            <a:endParaRPr lang="en-US" sz="1250" dirty="0"/>
          </a:p>
        </p:txBody>
      </p:sp>
      <p:sp>
        <p:nvSpPr>
          <p:cNvPr id="49" name="Shape 15">
            <a:extLst>
              <a:ext uri="{FF2B5EF4-FFF2-40B4-BE49-F238E27FC236}">
                <a16:creationId xmlns:a16="http://schemas.microsoft.com/office/drawing/2014/main" id="{CD554D8C-E097-8225-1296-845876871AA3}"/>
              </a:ext>
            </a:extLst>
          </p:cNvPr>
          <p:cNvSpPr/>
          <p:nvPr/>
        </p:nvSpPr>
        <p:spPr>
          <a:xfrm>
            <a:off x="2202053" y="4915320"/>
            <a:ext cx="4721261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DEE"/>
            </a:solidFill>
            <a:prstDash val="solid"/>
          </a:ln>
        </p:spPr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45148843-1BC3-4EAF-884B-A7BDE1D36169}"/>
              </a:ext>
            </a:extLst>
          </p:cNvPr>
          <p:cNvSpPr/>
          <p:nvPr/>
        </p:nvSpPr>
        <p:spPr>
          <a:xfrm>
            <a:off x="2384933" y="5052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99"/>
                </a:solidFill>
              </a:rPr>
              <a:t>Jupyter &amp; Google Colab</a:t>
            </a:r>
            <a:endParaRPr lang="en-US" sz="1500" dirty="0"/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34512533-BB1A-B7B0-3232-1EFB8DA16F8C}"/>
              </a:ext>
            </a:extLst>
          </p:cNvPr>
          <p:cNvSpPr/>
          <p:nvPr/>
        </p:nvSpPr>
        <p:spPr>
          <a:xfrm>
            <a:off x="2384933" y="54182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Interactive development environment providing reproducible code execution and inline markdown reports.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1516043" cy="830997"/>
          </a:xfrm>
        </p:spPr>
        <p:txBody>
          <a:bodyPr>
            <a:normAutofit fontScale="90000"/>
          </a:bodyPr>
          <a:lstStyle/>
          <a:p>
            <a:r>
              <a:rPr lang="en-IN" sz="3900" dirty="0"/>
              <a:t>RESULTS: Seasonal Performance Overview</a:t>
            </a:r>
            <a:br>
              <a:rPr lang="en-IN" b="0" dirty="0"/>
            </a:b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0D600D-9523-F810-8F38-2AE81849A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082213"/>
            <a:ext cx="4541914" cy="31244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70B2F8A-DF8E-0BB3-EA9E-BA65D0448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896" y="1036488"/>
            <a:ext cx="4271773" cy="308151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1D2E14B-862B-E4B9-D4B3-26E623A4D0A5}"/>
              </a:ext>
            </a:extLst>
          </p:cNvPr>
          <p:cNvSpPr txBox="1"/>
          <p:nvPr/>
        </p:nvSpPr>
        <p:spPr>
          <a:xfrm>
            <a:off x="5495731" y="5589037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9A8B82-2849-3CEA-E3D7-D92F78D76072}"/>
              </a:ext>
            </a:extLst>
          </p:cNvPr>
          <p:cNvSpPr txBox="1"/>
          <p:nvPr/>
        </p:nvSpPr>
        <p:spPr>
          <a:xfrm>
            <a:off x="961053" y="4581331"/>
            <a:ext cx="4366727" cy="1614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20" name="Table 0">
            <a:extLst>
              <a:ext uri="{FF2B5EF4-FFF2-40B4-BE49-F238E27FC236}">
                <a16:creationId xmlns:a16="http://schemas.microsoft.com/office/drawing/2014/main" id="{62F215FB-03EB-3707-8005-8AB337B5A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286451"/>
              </p:ext>
            </p:extLst>
          </p:nvPr>
        </p:nvGraphicFramePr>
        <p:xfrm>
          <a:off x="731520" y="4371916"/>
          <a:ext cx="4204375" cy="2100004"/>
        </p:xfrm>
        <a:graphic>
          <a:graphicData uri="http://schemas.openxmlformats.org/drawingml/2006/table">
            <a:tbl>
              <a:tblPr/>
              <a:tblGrid>
                <a:gridCol w="84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0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0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Cropping Season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Sample (N)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Mean Yield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Avg Farm Profit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Solvency (%)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0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Kharif (Monsoon)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1,779 (44.5%)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5.64 t/ha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+₹1,78,915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57.8%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0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Rabi (Winter)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1,627 (40.7%)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5.08 t/ha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+₹87,689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48.9%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0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Zaid (Summer)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594 (14.8%)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4.67 t/ha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</a:rPr>
                        <a:t>-₹24,805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</a:rPr>
                        <a:t>35.5%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68B2D782-6021-72BC-EAA9-76EE98CD3B89}"/>
              </a:ext>
            </a:extLst>
          </p:cNvPr>
          <p:cNvSpPr/>
          <p:nvPr/>
        </p:nvSpPr>
        <p:spPr>
          <a:xfrm>
            <a:off x="5169158" y="4191792"/>
            <a:ext cx="7022841" cy="2473167"/>
          </a:xfrm>
          <a:prstGeom prst="flowChartAlternateProcess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F86FB2-EB3E-2C05-52CE-485D9EA642FF}"/>
              </a:ext>
            </a:extLst>
          </p:cNvPr>
          <p:cNvSpPr txBox="1"/>
          <p:nvPr/>
        </p:nvSpPr>
        <p:spPr>
          <a:xfrm>
            <a:off x="5420042" y="4174220"/>
            <a:ext cx="67719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3366"/>
                </a:solidFill>
              </a:rPr>
              <a:t>Key Data Takeaways:
</a:t>
            </a:r>
            <a:r>
              <a:rPr lang="en-US" sz="1400" b="1" dirty="0">
                <a:solidFill>
                  <a:srgbClr val="006699"/>
                </a:solidFill>
              </a:rPr>
              <a:t>• Figure 1A (Yield Boxplot):
</a:t>
            </a:r>
            <a:r>
              <a:rPr lang="en-US" sz="1400" dirty="0">
                <a:solidFill>
                  <a:srgbClr val="222222"/>
                </a:solidFill>
              </a:rPr>
              <a:t>  - Kharif mean yield is highest at 5.64 t/ha, followed by Rabi (5.08 t/ha) and </a:t>
            </a:r>
          </a:p>
          <a:p>
            <a:r>
              <a:rPr lang="en-US" sz="1400" dirty="0">
                <a:solidFill>
                  <a:srgbClr val="222222"/>
                </a:solidFill>
              </a:rPr>
              <a:t>    Zaid (4.67 t/ha).
  - Outliers (&gt;40 t/ha) reflect sugarcane stalk harvest.
</a:t>
            </a:r>
            <a:r>
              <a:rPr lang="en-US" sz="1400" b="1" dirty="0">
                <a:solidFill>
                  <a:srgbClr val="006699"/>
                </a:solidFill>
              </a:rPr>
              <a:t>• Figure 1B (Profit Ranking):
</a:t>
            </a:r>
            <a:r>
              <a:rPr lang="en-US" sz="1400" dirty="0">
                <a:solidFill>
                  <a:srgbClr val="222222"/>
                </a:solidFill>
              </a:rPr>
              <a:t>  - Sugarcane (+₹96.8K/ha) and Chilli (+₹91.8K/ha) lead agricultural profitability.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  - Cotton (+₹16.2K/ha) and Groundnut (+₹7.4K/ha) remain solvent.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  - Severe Cereal Deficit: Pulses (-₹546/ha), Maize (-₹10.3K/ha), </a:t>
            </a:r>
          </a:p>
          <a:p>
            <a:r>
              <a:rPr lang="en-US" sz="1400" dirty="0">
                <a:solidFill>
                  <a:srgbClr val="222222"/>
                </a:solidFill>
              </a:rPr>
              <a:t>    Rice (-₹13.4K/ha), and Wheat (-₹16.2K/ha) show negative net margins.</a:t>
            </a:r>
            <a:endParaRPr lang="en-US" sz="14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4924F-1C20-F072-F354-CA0DCFAAD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9AE863-57A9-CB51-5F31-25B5370B6A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2E6C5F0-C1BC-B8BE-93E0-9D4FE1C34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1516043" cy="830997"/>
          </a:xfrm>
        </p:spPr>
        <p:txBody>
          <a:bodyPr>
            <a:normAutofit/>
          </a:bodyPr>
          <a:lstStyle/>
          <a:p>
            <a:r>
              <a:rPr lang="en-GB" sz="3500" dirty="0"/>
              <a:t>RESULTS: Climate Dynamics &amp; Correlation Analysis </a:t>
            </a:r>
            <a:endParaRPr lang="en-IN" sz="35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9A0D946-6536-5E6B-CA8F-33C1E96E60C3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DDD10DF-E811-8891-B3B5-1EE80A4DBCD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D3CBA2-D3D2-07AD-0EDA-00C189AD6C10}"/>
              </a:ext>
            </a:extLst>
          </p:cNvPr>
          <p:cNvSpPr txBox="1"/>
          <p:nvPr/>
        </p:nvSpPr>
        <p:spPr>
          <a:xfrm>
            <a:off x="5495731" y="5589037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C3ADC5-9EE9-6FA2-4228-7277369BA865}"/>
              </a:ext>
            </a:extLst>
          </p:cNvPr>
          <p:cNvSpPr txBox="1"/>
          <p:nvPr/>
        </p:nvSpPr>
        <p:spPr>
          <a:xfrm>
            <a:off x="961053" y="4581331"/>
            <a:ext cx="4366727" cy="1614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20" name="Table 0">
            <a:extLst>
              <a:ext uri="{FF2B5EF4-FFF2-40B4-BE49-F238E27FC236}">
                <a16:creationId xmlns:a16="http://schemas.microsoft.com/office/drawing/2014/main" id="{FC245E20-3953-226D-2DDC-71F424F24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777083"/>
              </p:ext>
            </p:extLst>
          </p:nvPr>
        </p:nvGraphicFramePr>
        <p:xfrm>
          <a:off x="364890" y="4373472"/>
          <a:ext cx="4770990" cy="2001723"/>
        </p:xfrm>
        <a:graphic>
          <a:graphicData uri="http://schemas.openxmlformats.org/drawingml/2006/table">
            <a:tbl>
              <a:tblPr/>
              <a:tblGrid>
                <a:gridCol w="823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54303611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Season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Rainfall (mm)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Temperature (°C)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Humidity (%)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Sunlight (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</a:rPr>
                        <a:t>hrs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/day)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Pest Risk (%)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0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Kharif (Monsoon)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852.1 mm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28.5°C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71.8%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6.79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</a:rPr>
                        <a:t>hrs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</a:rPr>
                        <a:t>54.5%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0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Rabi (Winter)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436.0 mm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23.5°C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57.9%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7.59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</a:rPr>
                        <a:t>hrs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40.5%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0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Zaid (Summer)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299.4 mm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31.0°C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52.0%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8.18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</a:rPr>
                        <a:t>hrs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38.2%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1549C93D-BC6F-6E07-05AA-6064080229C0}"/>
              </a:ext>
            </a:extLst>
          </p:cNvPr>
          <p:cNvSpPr/>
          <p:nvPr/>
        </p:nvSpPr>
        <p:spPr>
          <a:xfrm>
            <a:off x="5289286" y="3902028"/>
            <a:ext cx="6864219" cy="2473167"/>
          </a:xfrm>
          <a:prstGeom prst="flowChartAlternateProcess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765650-9111-CB86-132D-45A3E202BA14}"/>
              </a:ext>
            </a:extLst>
          </p:cNvPr>
          <p:cNvSpPr txBox="1"/>
          <p:nvPr/>
        </p:nvSpPr>
        <p:spPr>
          <a:xfrm>
            <a:off x="5442691" y="3938380"/>
            <a:ext cx="67108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3366"/>
                </a:solidFill>
              </a:rPr>
              <a:t>Correlation &amp; Climate Insights:
</a:t>
            </a:r>
            <a:r>
              <a:rPr lang="en-US" sz="1400" b="1" dirty="0">
                <a:solidFill>
                  <a:srgbClr val="006699"/>
                </a:solidFill>
              </a:rPr>
              <a:t>• Figure 2A (Correlation Heatmap):
</a:t>
            </a:r>
            <a:r>
              <a:rPr lang="en-US" sz="1400" dirty="0">
                <a:solidFill>
                  <a:srgbClr val="222222"/>
                </a:solidFill>
              </a:rPr>
              <a:t>  - Rainfall vs Pest Risk (r = +0.62) &amp; Humidity vs Pest Risk (r = +0.55): Confirms moist monsoon conditions trigger disease outbreaks.
  - Soil Moisture vs Rainfall (r = +0.52): Strong hydrologic coupling.
  - Pesticide vs Pest Risk (r = -0.47): Protective effect of timely chemical control.
</a:t>
            </a:r>
            <a:r>
              <a:rPr lang="en-US" sz="1400" b="1" dirty="0">
                <a:solidFill>
                  <a:srgbClr val="006699"/>
                </a:solidFill>
              </a:rPr>
              <a:t>• Figure 2B (Rainfall vs Yield Scatter):
</a:t>
            </a:r>
            <a:r>
              <a:rPr lang="en-US" sz="1400" dirty="0">
                <a:solidFill>
                  <a:srgbClr val="222222"/>
                </a:solidFill>
              </a:rPr>
              <a:t>  - Flat regression slope indicates that sheer rainfall volume alone does not guarantee higher yield—drainage and crop choice are critical.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  - Sugarcane (points at top) thrives in Kharif (&gt;800 mm rain).</a:t>
            </a:r>
            <a:endParaRPr lang="en-US" sz="1400" dirty="0"/>
          </a:p>
          <a:p>
            <a:endParaRPr lang="en-IN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E1FE06-0DDD-0091-3136-4270E207B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88" y="1028911"/>
            <a:ext cx="3735704" cy="31628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8DF256-4D4D-DCAC-6660-7781E3A51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478" y="1096189"/>
            <a:ext cx="4116230" cy="280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917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1A0DE-C8B3-47DE-A8FE-980C802CE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ACEEBD-28D9-FA60-038E-CBC4545791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B4E0BDD-FCD9-B2EB-337D-77090D45F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891" y="370589"/>
            <a:ext cx="11827110" cy="830997"/>
          </a:xfrm>
        </p:spPr>
        <p:txBody>
          <a:bodyPr>
            <a:noAutofit/>
          </a:bodyPr>
          <a:lstStyle/>
          <a:p>
            <a:r>
              <a:rPr lang="en-GB" sz="3200" dirty="0"/>
              <a:t>RESULTS: Irrigation Systems &amp; Water Efficiency Distributions</a:t>
            </a:r>
            <a:endParaRPr lang="en-IN" sz="32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3AB3786-D712-CF6C-71D3-8E9D1EC08A30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E7F90CB-6D12-0568-22A0-DE54820EB11E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261258-28AC-62A6-46D5-00DC2AA82764}"/>
              </a:ext>
            </a:extLst>
          </p:cNvPr>
          <p:cNvSpPr txBox="1"/>
          <p:nvPr/>
        </p:nvSpPr>
        <p:spPr>
          <a:xfrm>
            <a:off x="5495731" y="5589037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429CAB-6053-21D0-F64A-65FE3C00AC3E}"/>
              </a:ext>
            </a:extLst>
          </p:cNvPr>
          <p:cNvSpPr txBox="1"/>
          <p:nvPr/>
        </p:nvSpPr>
        <p:spPr>
          <a:xfrm>
            <a:off x="961053" y="4581331"/>
            <a:ext cx="4366727" cy="1614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52061298-8CA7-B27C-D59D-7BC31150B8A8}"/>
              </a:ext>
            </a:extLst>
          </p:cNvPr>
          <p:cNvSpPr/>
          <p:nvPr/>
        </p:nvSpPr>
        <p:spPr>
          <a:xfrm>
            <a:off x="5588096" y="4095068"/>
            <a:ext cx="6603903" cy="2695828"/>
          </a:xfrm>
          <a:prstGeom prst="flowChartAlternateProcess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BE24FD-7E3E-F443-518F-575BE39D214F}"/>
              </a:ext>
            </a:extLst>
          </p:cNvPr>
          <p:cNvSpPr txBox="1"/>
          <p:nvPr/>
        </p:nvSpPr>
        <p:spPr>
          <a:xfrm>
            <a:off x="5741483" y="4168852"/>
            <a:ext cx="645051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3366"/>
                </a:solidFill>
              </a:rPr>
              <a:t>Irrigation &amp; Hydrologic Insights:
</a:t>
            </a:r>
            <a:r>
              <a:rPr lang="en-US" sz="1400" b="1" dirty="0">
                <a:solidFill>
                  <a:srgbClr val="006699"/>
                </a:solidFill>
              </a:rPr>
              <a:t>• Figure 1C (Efficiency Distributions):
</a:t>
            </a:r>
            <a:r>
              <a:rPr lang="en-US" sz="1400" dirty="0">
                <a:solidFill>
                  <a:srgbClr val="222222"/>
                </a:solidFill>
              </a:rPr>
              <a:t>  - Zaid water efficiency curve is shifted leftwards (mean 4.41 t/1000m³) due to high evaporative demand.
  - Kharif and Rabi exhibit long right tails reflecting micro-drip irrigated sugarcane/maize farms (&gt;20 t/1000m³).
</a:t>
            </a:r>
            <a:r>
              <a:rPr lang="en-US" sz="1400" b="1" dirty="0">
                <a:solidFill>
                  <a:srgbClr val="006699"/>
                </a:solidFill>
              </a:rPr>
              <a:t>• Figure 1D (Irrigation Proportions):
</a:t>
            </a:r>
            <a:r>
              <a:rPr lang="en-US" sz="1400" dirty="0">
                <a:solidFill>
                  <a:srgbClr val="222222"/>
                </a:solidFill>
              </a:rPr>
              <a:t>  - Flood irrigation (orange) accounts for 32–33% across all seasons.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  - Drip (red) represents 23% of farms.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  - Sprinkler (purple) represents 18–20% of farms.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  - Rainfed (green) represents 26% in Kharif/Rabi, dropping in summer.</a:t>
            </a:r>
            <a:endParaRPr lang="en-US" sz="1400" dirty="0"/>
          </a:p>
          <a:p>
            <a:endParaRPr lang="en-IN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41DEA0-05DA-A49E-0E6B-ED5C98179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955818"/>
            <a:ext cx="4471771" cy="32359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C2F4B0-FE1F-CEE8-DE1B-C671C62CC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075" y="942457"/>
            <a:ext cx="5227773" cy="3152610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6CF1110-3582-2568-224B-72314535C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355771"/>
              </p:ext>
            </p:extLst>
          </p:nvPr>
        </p:nvGraphicFramePr>
        <p:xfrm>
          <a:off x="364891" y="4317728"/>
          <a:ext cx="5065525" cy="2327148"/>
        </p:xfrm>
        <a:graphic>
          <a:graphicData uri="http://schemas.openxmlformats.org/drawingml/2006/table">
            <a:tbl>
              <a:tblPr/>
              <a:tblGrid>
                <a:gridCol w="848089">
                  <a:extLst>
                    <a:ext uri="{9D8B030D-6E8A-4147-A177-3AD203B41FA5}">
                      <a16:colId xmlns:a16="http://schemas.microsoft.com/office/drawing/2014/main" val="667924540"/>
                    </a:ext>
                  </a:extLst>
                </a:gridCol>
                <a:gridCol w="737118">
                  <a:extLst>
                    <a:ext uri="{9D8B030D-6E8A-4147-A177-3AD203B41FA5}">
                      <a16:colId xmlns:a16="http://schemas.microsoft.com/office/drawing/2014/main" val="4077030100"/>
                    </a:ext>
                  </a:extLst>
                </a:gridCol>
                <a:gridCol w="1212980">
                  <a:extLst>
                    <a:ext uri="{9D8B030D-6E8A-4147-A177-3AD203B41FA5}">
                      <a16:colId xmlns:a16="http://schemas.microsoft.com/office/drawing/2014/main" val="357251223"/>
                    </a:ext>
                  </a:extLst>
                </a:gridCol>
                <a:gridCol w="1296955">
                  <a:extLst>
                    <a:ext uri="{9D8B030D-6E8A-4147-A177-3AD203B41FA5}">
                      <a16:colId xmlns:a16="http://schemas.microsoft.com/office/drawing/2014/main" val="2491037638"/>
                    </a:ext>
                  </a:extLst>
                </a:gridCol>
                <a:gridCol w="970383">
                  <a:extLst>
                    <a:ext uri="{9D8B030D-6E8A-4147-A177-3AD203B41FA5}">
                      <a16:colId xmlns:a16="http://schemas.microsoft.com/office/drawing/2014/main" val="2113385328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Irrigation Method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Observations (N)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Water Efficiency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Mean Groundwater Used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Mean Net Profit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12649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Drip Irrigation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915 (22.9%)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</a:rPr>
                        <a:t>6.27 t/1000m³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6,009 m³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</a:rPr>
                        <a:t>+₹2,19,626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780684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Sprinkler Irrigation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734 (18.4%)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4.67 t/1000m³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5,885 m³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+₹91,121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69572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Flood Irrigation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1,310 (32.8%)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3.44 t/1000m³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9,812 m³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+₹73,354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036388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Rainfed Farming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1,041 (26.0%)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7.56 t/1000m³*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3,248 m³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+₹79,050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2623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27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6478E-5EE4-BCDA-6656-911265B7C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D50C9A-8B01-15B0-B52F-D951B20216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9CE2EDA-42B7-7CA1-BF03-D8A7A5E71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891" y="370589"/>
            <a:ext cx="11827110" cy="830997"/>
          </a:xfrm>
        </p:spPr>
        <p:txBody>
          <a:bodyPr>
            <a:noAutofit/>
          </a:bodyPr>
          <a:lstStyle/>
          <a:p>
            <a:r>
              <a:rPr lang="en-GB" sz="3200" dirty="0"/>
              <a:t>RESULTS: Executive KPI Dashboard &amp; Regional Profitability Matrix</a:t>
            </a:r>
            <a:endParaRPr lang="en-IN" sz="32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3FE5422-8337-FF8A-82C8-6BE3D56CCD16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561FCC2-FBB9-6BA0-C1C8-EAD77CDBFD2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D81D86-334A-22AE-2150-16DB8E81EDA7}"/>
              </a:ext>
            </a:extLst>
          </p:cNvPr>
          <p:cNvSpPr txBox="1"/>
          <p:nvPr/>
        </p:nvSpPr>
        <p:spPr>
          <a:xfrm>
            <a:off x="5495731" y="5589037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3A852A-6846-0C90-B7E2-3E14D294CA03}"/>
              </a:ext>
            </a:extLst>
          </p:cNvPr>
          <p:cNvSpPr txBox="1"/>
          <p:nvPr/>
        </p:nvSpPr>
        <p:spPr>
          <a:xfrm>
            <a:off x="961053" y="4581331"/>
            <a:ext cx="4366727" cy="1614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6605766E-96BA-5452-FFCE-0A36780D497E}"/>
              </a:ext>
            </a:extLst>
          </p:cNvPr>
          <p:cNvSpPr/>
          <p:nvPr/>
        </p:nvSpPr>
        <p:spPr>
          <a:xfrm>
            <a:off x="7539135" y="987296"/>
            <a:ext cx="4380694" cy="5756947"/>
          </a:xfrm>
          <a:prstGeom prst="flowChartAlternateProcess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003366"/>
                </a:solidFill>
              </a:rPr>
              <a:t>Dashboard &amp; Regional Insights:
</a:t>
            </a:r>
            <a:r>
              <a:rPr lang="en-US" sz="1400" b="1" dirty="0">
                <a:solidFill>
                  <a:srgbClr val="2E7D32"/>
                </a:solidFill>
              </a:rPr>
              <a:t>• Top KPI Summary:
</a:t>
            </a:r>
            <a:r>
              <a:rPr lang="en-US" sz="1400" dirty="0">
                <a:solidFill>
                  <a:srgbClr val="222222"/>
                </a:solidFill>
              </a:rPr>
              <a:t>  - Total Sector Revenue: ₹255.14 Crores
  - Overall Farm Solvency Rate: 50.8%
  - Average Water Productivity: 5.39 t/1000m³
</a:t>
            </a:r>
            <a:r>
              <a:rPr lang="en-US" sz="1400" b="1" dirty="0">
                <a:solidFill>
                  <a:srgbClr val="006699"/>
                </a:solidFill>
              </a:rPr>
              <a:t>• Figure 3A (State vs Season Matrix):
</a:t>
            </a:r>
            <a:r>
              <a:rPr lang="en-US" sz="1400" dirty="0">
                <a:solidFill>
                  <a:srgbClr val="222222"/>
                </a:solidFill>
              </a:rPr>
              <a:t>  - Kharif is positive in every state (Telangana ₹26.4K/ha, Karnataka ₹24.5K/ha, Gujarat ₹23.5K/ha).
  - Zaid summer losses hit Andhra Pradesh (-₹8.5K/ha), Gujarat (-₹7.5K/ha), and Telangana (-₹6.3K/ha) hardest.
  - Punjab (+₹6.4K/ha) and Karnataka (+₹4.9K/ha) stay positive in summer due to robust tubewell/canal networks.
</a:t>
            </a:r>
            <a:r>
              <a:rPr lang="en-US" sz="1400" b="1" dirty="0">
                <a:solidFill>
                  <a:srgbClr val="006699"/>
                </a:solidFill>
              </a:rPr>
              <a:t>• Figure 3B (Irrigation Impact):
</a:t>
            </a:r>
            <a:r>
              <a:rPr lang="en-US" sz="1400" dirty="0">
                <a:solidFill>
                  <a:srgbClr val="222222"/>
                </a:solidFill>
              </a:rPr>
              <a:t>  - Drip delivers ₹25,600/ha profit vs Flood at ₹8,800/ha (nearly 3x higher).</a:t>
            </a:r>
            <a:endParaRPr lang="en-US" sz="1400" dirty="0"/>
          </a:p>
          <a:p>
            <a:pPr algn="ctr"/>
            <a:endParaRPr lang="en-IN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D6A29-EA76-8042-9532-0C51F0192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91" y="1092155"/>
            <a:ext cx="6850252" cy="37127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C300BA9-8202-72E6-8EF4-E8714B2E2393}"/>
              </a:ext>
            </a:extLst>
          </p:cNvPr>
          <p:cNvSpPr txBox="1"/>
          <p:nvPr/>
        </p:nvSpPr>
        <p:spPr>
          <a:xfrm>
            <a:off x="501365" y="5164172"/>
            <a:ext cx="6617892" cy="11695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3366"/>
                </a:solidFill>
              </a:rPr>
              <a:t>Core Takeaway from Dashboard:
</a:t>
            </a:r>
            <a:r>
              <a:rPr lang="en-US" sz="1400" dirty="0">
                <a:solidFill>
                  <a:srgbClr val="222222"/>
                </a:solidFill>
              </a:rPr>
              <a:t>Agricultural viability is determined by the intersection of </a:t>
            </a:r>
            <a:r>
              <a:rPr lang="en-US" sz="1400" b="1" dirty="0">
                <a:solidFill>
                  <a:srgbClr val="222222"/>
                </a:solidFill>
              </a:rPr>
              <a:t>Season x Irrigation Method x State Infrastructure. </a:t>
            </a:r>
            <a:r>
              <a:rPr lang="en-US" sz="1400" dirty="0">
                <a:solidFill>
                  <a:srgbClr val="222222"/>
                </a:solidFill>
              </a:rPr>
              <a:t>Farms with modern drip irrigation in irrigated states maintain solvency even during hot summer cycles, while traditional flood-irrigated farms suffer heavy financial losses.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75445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6" y="370589"/>
            <a:ext cx="10933657" cy="830997"/>
          </a:xfrm>
        </p:spPr>
        <p:txBody>
          <a:bodyPr>
            <a:normAutofit/>
          </a:bodyPr>
          <a:lstStyle/>
          <a:p>
            <a:r>
              <a:rPr lang="en-IN" sz="3500" dirty="0"/>
              <a:t>RESULT: Formal Statistics Hypothesis Testing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3AE0FC-F753-D3E0-CDC0-CA554097217C}"/>
              </a:ext>
            </a:extLst>
          </p:cNvPr>
          <p:cNvSpPr txBox="1"/>
          <p:nvPr/>
        </p:nvSpPr>
        <p:spPr>
          <a:xfrm>
            <a:off x="582386" y="1201586"/>
            <a:ext cx="9326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3366"/>
                </a:solidFill>
              </a:rPr>
              <a:t>Hypothesis Framework:
</a:t>
            </a:r>
            <a:r>
              <a:rPr lang="en-US" sz="1600" dirty="0">
                <a:solidFill>
                  <a:srgbClr val="000000"/>
                </a:solidFill>
              </a:rPr>
              <a:t>• H0: Cropping season has no statistically significant effect on agricultural performance metrics.</a:t>
            </a:r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</a:rPr>
              <a:t>• H1: Statistically significant differences exist across Kharif, Rabi, and Zaid seasons (alpha = 0.05).</a:t>
            </a:r>
            <a:endParaRPr lang="en-US" sz="1600" dirty="0"/>
          </a:p>
          <a:p>
            <a:endParaRPr lang="en-IN" dirty="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FB39B09C-FCA3-D0EE-6E5B-31169AD3C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421129"/>
              </p:ext>
            </p:extLst>
          </p:nvPr>
        </p:nvGraphicFramePr>
        <p:xfrm>
          <a:off x="582386" y="2234076"/>
          <a:ext cx="8664250" cy="4237842"/>
        </p:xfrm>
        <a:graphic>
          <a:graphicData uri="http://schemas.openxmlformats.org/drawingml/2006/table">
            <a:tbl>
              <a:tblPr/>
              <a:tblGrid>
                <a:gridCol w="173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54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Target Metric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ANOVA F-Statistic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p-value (ANOVA)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Kruskal-Wallis 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Statistical Decision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4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Net Farm Profit (INR)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 = 34.292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 = 1.63e-15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 = 82.41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Reject H0 (p &lt; 0.001)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4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Disease &amp; Pest Risk (%)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 = 1049.467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 &lt; 1e-100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 = 1421.15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Reject H0 (p &lt; 0.0001)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4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Rice Yield by Season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 = 22.170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 = 4.28e-10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 = 43.19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Reject H0 (p &lt; 0.001)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4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Pulses Yield by Season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 = 23.816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 = 1.15e-10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 = 46.85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Reject H0 (p &lt; 0.001)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4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Wheat Yield by Season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 = 11.027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 = 1.84e-05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 = 22.08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Reject H0 (p &lt; 0.001)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54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Maize Yield by Season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 = 10.684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 = 2.62e-05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 = 21.41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Reject H0 (p &lt; 0.001)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7691F-1357-74F3-55F3-CF6B66A11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EAB36D-9D51-67E4-8D4D-78B34204D9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FB785EC-1391-AF9F-0DA8-B9D139EA4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219F232-3163-BC7A-1518-AF45D2571FF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0123E90-96D4-F3B9-2970-33AA6C6C2E5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D7B24FA-F08C-906A-32C5-56E86AF60187}"/>
              </a:ext>
            </a:extLst>
          </p:cNvPr>
          <p:cNvSpPr/>
          <p:nvPr/>
        </p:nvSpPr>
        <p:spPr>
          <a:xfrm>
            <a:off x="731520" y="12801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94853C2-A375-BA26-812F-28ABAB578568}"/>
              </a:ext>
            </a:extLst>
          </p:cNvPr>
          <p:cNvSpPr/>
          <p:nvPr/>
        </p:nvSpPr>
        <p:spPr>
          <a:xfrm>
            <a:off x="1054359" y="1552829"/>
            <a:ext cx="456640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SzPct val="30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1500" b="1" dirty="0">
                <a:solidFill>
                  <a:srgbClr val="003366"/>
                </a:solidFill>
              </a:rPr>
              <a:t> Predictive Machine Learning</a:t>
            </a:r>
            <a:endParaRPr lang="en-US" sz="15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62299BA7-F5C7-B23D-2FF0-B25709DD7787}"/>
              </a:ext>
            </a:extLst>
          </p:cNvPr>
          <p:cNvSpPr/>
          <p:nvPr/>
        </p:nvSpPr>
        <p:spPr>
          <a:xfrm>
            <a:off x="914400" y="18745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Develop XGBoost &amp; Random Forest regression models to predict farm yield and profit margin before sowing, using forecasted rainfall and seasonal temperature indicators.</a:t>
            </a:r>
            <a:endParaRPr lang="en-US" sz="125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0FEBCB82-EEFF-4E64-9CA5-50556087E169}"/>
              </a:ext>
            </a:extLst>
          </p:cNvPr>
          <p:cNvSpPr/>
          <p:nvPr/>
        </p:nvSpPr>
        <p:spPr>
          <a:xfrm>
            <a:off x="731520" y="3749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CEFDD4AB-AE41-4ABE-DA88-69D39D430589}"/>
              </a:ext>
            </a:extLst>
          </p:cNvPr>
          <p:cNvSpPr/>
          <p:nvPr/>
        </p:nvSpPr>
        <p:spPr>
          <a:xfrm>
            <a:off x="914400" y="38862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b="1" dirty="0">
              <a:solidFill>
                <a:srgbClr val="003366"/>
              </a:solidFill>
            </a:endParaRPr>
          </a:p>
          <a:p>
            <a:pPr marL="0" indent="0">
              <a:buNone/>
            </a:pPr>
            <a:endParaRPr lang="en-US" sz="1500" b="1" dirty="0">
              <a:solidFill>
                <a:srgbClr val="003366"/>
              </a:solidFill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003366"/>
                </a:solidFill>
              </a:rPr>
              <a:t>🛰️ Multispectral Satellite Remote Sensing</a:t>
            </a:r>
            <a:endParaRPr lang="en-US" sz="15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68A302D0-93C2-5708-5689-9E6007D58968}"/>
              </a:ext>
            </a:extLst>
          </p:cNvPr>
          <p:cNvSpPr/>
          <p:nvPr/>
        </p:nvSpPr>
        <p:spPr>
          <a:xfrm>
            <a:off x="914400" y="43434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Integrate European Space Agency (Sentinel-2) NDVI and NDRE spectral indices for real-time vegetative stress tracking and early monsoon pest detection.</a:t>
            </a:r>
            <a:endParaRPr lang="en-US" sz="125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7933F240-BDB0-742B-A5CA-F18D46A3CFB7}"/>
              </a:ext>
            </a:extLst>
          </p:cNvPr>
          <p:cNvSpPr/>
          <p:nvPr/>
        </p:nvSpPr>
        <p:spPr>
          <a:xfrm>
            <a:off x="6217920" y="12801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0C9C9889-83BB-85EE-4F14-C6F2E8AB44B2}"/>
              </a:ext>
            </a:extLst>
          </p:cNvPr>
          <p:cNvSpPr/>
          <p:nvPr/>
        </p:nvSpPr>
        <p:spPr>
          <a:xfrm>
            <a:off x="6400800" y="14173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b="1" dirty="0">
              <a:solidFill>
                <a:srgbClr val="003366"/>
              </a:solidFill>
            </a:endParaRPr>
          </a:p>
          <a:p>
            <a:pPr marL="0" indent="0">
              <a:buNone/>
            </a:pPr>
            <a:endParaRPr lang="en-US" sz="1500" b="1" dirty="0">
              <a:solidFill>
                <a:srgbClr val="003366"/>
              </a:solidFill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003366"/>
                </a:solidFill>
              </a:rPr>
              <a:t>📡 IoT Precision Soil &amp; Moisture Monitoring</a:t>
            </a:r>
            <a:endParaRPr lang="en-US" sz="15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7CC0D0F2-7362-A6B2-E035-08AA9B7F80F3}"/>
              </a:ext>
            </a:extLst>
          </p:cNvPr>
          <p:cNvSpPr/>
          <p:nvPr/>
        </p:nvSpPr>
        <p:spPr>
          <a:xfrm>
            <a:off x="6400800" y="18745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Deploy automated solar-powered LoRaWAN soil moisture probes to trigger micro-drip irrigation autonomously, eliminating summer evaporative losses.</a:t>
            </a:r>
            <a:endParaRPr lang="en-US" sz="12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984D44D5-2B52-8D76-C045-04AADF0E8D61}"/>
              </a:ext>
            </a:extLst>
          </p:cNvPr>
          <p:cNvSpPr/>
          <p:nvPr/>
        </p:nvSpPr>
        <p:spPr>
          <a:xfrm>
            <a:off x="6217920" y="3749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7A13E914-B3A2-6534-DDE4-2433D4BB3B58}"/>
              </a:ext>
            </a:extLst>
          </p:cNvPr>
          <p:cNvSpPr/>
          <p:nvPr/>
        </p:nvSpPr>
        <p:spPr>
          <a:xfrm>
            <a:off x="6400800" y="38862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b="1" dirty="0">
              <a:solidFill>
                <a:srgbClr val="003366"/>
              </a:solidFill>
            </a:endParaRPr>
          </a:p>
          <a:p>
            <a:pPr marL="0" indent="0">
              <a:buNone/>
            </a:pPr>
            <a:endParaRPr lang="en-US" sz="1500" b="1" dirty="0">
              <a:solidFill>
                <a:srgbClr val="003366"/>
              </a:solidFill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003366"/>
                </a:solidFill>
              </a:rPr>
              <a:t>📱 Vernacular Farmer Advisory Interface</a:t>
            </a:r>
            <a:endParaRPr lang="en-US" sz="1500" dirty="0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D4361A46-F27A-D0C8-9BFA-E9A353A5E239}"/>
              </a:ext>
            </a:extLst>
          </p:cNvPr>
          <p:cNvSpPr/>
          <p:nvPr/>
        </p:nvSpPr>
        <p:spPr>
          <a:xfrm>
            <a:off x="6400800" y="43434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Build an offline-first mobile app in regional Indian languages (Telugu, Marathi, Punjabi, Tamil) delivering personalized crop selection and fertilizer optimization advisories.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49370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29E25FE-5FFC-F399-8DA7-DDDE3B33FFD6}"/>
              </a:ext>
            </a:extLst>
          </p:cNvPr>
          <p:cNvSpPr/>
          <p:nvPr/>
        </p:nvSpPr>
        <p:spPr>
          <a:xfrm>
            <a:off x="206682" y="1242665"/>
            <a:ext cx="106984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r>
              <a:rPr lang="en-US" b="1" dirty="0"/>
              <a:t>🔗 GitHub Repository URL:</a:t>
            </a:r>
            <a:r>
              <a:rPr lang="en-IN" b="1" dirty="0"/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https://github.com/ocotpi/Seasonal-Agriculture-Performance-Analysis</a:t>
            </a:r>
            <a:endParaRPr lang="en-US" sz="1600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1600" b="1" dirty="0">
                <a:solidFill>
                  <a:srgbClr val="003366"/>
                </a:solidFill>
              </a:rPr>
              <a:t>Repository Contents &amp; Reproducibility:
</a:t>
            </a:r>
            <a:r>
              <a:rPr lang="en-US" sz="1600" dirty="0">
                <a:solidFill>
                  <a:srgbClr val="000000"/>
                </a:solidFill>
              </a:rPr>
              <a:t>📁 </a:t>
            </a:r>
            <a:r>
              <a:rPr lang="en-US" sz="1600" dirty="0" err="1">
                <a:solidFill>
                  <a:srgbClr val="000000"/>
                </a:solidFill>
              </a:rPr>
              <a:t>Data_Visualization.ipynb</a:t>
            </a:r>
            <a:r>
              <a:rPr lang="en-US" sz="1600" dirty="0">
                <a:solidFill>
                  <a:srgbClr val="000000"/>
                </a:solidFill>
              </a:rPr>
              <a:t>  — Complete Jupyter Notebook with code, plots &amp; findings
📁 seasonal_agriculture_data.csv                    — 4,000-record cleaned dataset across 8 states and 8 crops
📁 Presentation_Slide_Deck.md                       — 14-slide structured markdown presentation guide
📁 seasonal_agriculrural_analysis.pptx — Complete 14-slide PowerPoint file
📁 PROJECT_REPORT.md                                — Complete formal academic report and methodology write-up
📁                   — 15+ oral defense Q&amp;As and slide talking points
📁 requirements.txt                                 — Environment dependencies (pandas, </a:t>
            </a:r>
            <a:r>
              <a:rPr lang="en-US" sz="1600" dirty="0" err="1">
                <a:solidFill>
                  <a:srgbClr val="000000"/>
                </a:solidFill>
              </a:rPr>
              <a:t>numpy</a:t>
            </a:r>
            <a:r>
              <a:rPr lang="en-US" sz="1600" dirty="0">
                <a:solidFill>
                  <a:srgbClr val="000000"/>
                </a:solidFill>
              </a:rPr>
              <a:t>, matplotlib, seaborn, </a:t>
            </a:r>
            <a:r>
              <a:rPr lang="en-US" sz="1600" dirty="0" err="1">
                <a:solidFill>
                  <a:srgbClr val="000000"/>
                </a:solidFill>
              </a:rPr>
              <a:t>scipy</a:t>
            </a:r>
            <a:r>
              <a:rPr lang="en-US" sz="1600" dirty="0">
                <a:solidFill>
                  <a:srgbClr val="000000"/>
                </a:solidFill>
              </a:rPr>
              <a:t>)
</a:t>
            </a:r>
            <a:r>
              <a:rPr lang="en-US" sz="1600" b="1" dirty="0">
                <a:solidFill>
                  <a:srgbClr val="003366"/>
                </a:solidFill>
              </a:rPr>
              <a:t>Reproducibility Command:
</a:t>
            </a:r>
            <a:r>
              <a:rPr lang="en-US" sz="1600" i="1" dirty="0">
                <a:solidFill>
                  <a:srgbClr val="444444"/>
                </a:solidFill>
              </a:rPr>
              <a:t>git clone https://github.com/ocotpi/Seasonal-Agriculture-Performance-Analysis.git</a:t>
            </a:r>
            <a:endParaRPr lang="en-US" sz="1600" dirty="0"/>
          </a:p>
          <a:p>
            <a:r>
              <a:rPr lang="en-US" sz="1600" i="1" dirty="0">
                <a:solidFill>
                  <a:srgbClr val="444444"/>
                </a:solidFill>
              </a:rPr>
              <a:t>pip install -r requirements.txt</a:t>
            </a:r>
            <a:endParaRPr lang="en-US" sz="1600" dirty="0"/>
          </a:p>
          <a:p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"/>
                                          </p:val>
                                        </p:tav>
                                        <p:tav tm="100000">
                                          <p:val>
                                            <p:strVal val="#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+.1"/>
                                          </p:val>
                                        </p:tav>
                                        <p:tav tm="100000">
                                          <p:val>
                                            <p:strVal val="#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"/>
                                          </p:val>
                                        </p:tav>
                                        <p:tav tm="100000">
                                          <p:val>
                                            <p:strVal val="#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+.1"/>
                                          </p:val>
                                        </p:tav>
                                        <p:tav tm="100000">
                                          <p:val>
                                            <p:strVal val="#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266" y="289560"/>
            <a:ext cx="11837436" cy="884658"/>
          </a:xfrm>
        </p:spPr>
        <p:txBody>
          <a:bodyPr>
            <a:noAutofit/>
          </a:bodyPr>
          <a:lstStyle/>
          <a:p>
            <a:r>
              <a:rPr lang="en-IN" sz="2800" dirty="0"/>
              <a:t>VOIS Course completion certificate – 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CB9DAB-D561-C5C4-55A8-A0979EDAA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332" y="956477"/>
            <a:ext cx="8141868" cy="57084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8809971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697346"/>
            <a:ext cx="9681836" cy="4425042"/>
          </a:xfrm>
        </p:spPr>
        <p:txBody>
          <a:bodyPr>
            <a:noAutofit/>
          </a:bodyPr>
          <a:lstStyle/>
          <a:p>
            <a:pPr lvl="0"/>
            <a:r>
              <a:rPr lang="en-IN" sz="1800" dirty="0"/>
              <a:t>Final Takeaway:</a:t>
            </a:r>
            <a:r>
              <a:rPr lang="en-IN" sz="1800" b="0" dirty="0"/>
              <a:t> Farm viability in India is fundamentally seasonal. Replacing flood irrigation with drip systems and shifting from water-stressed summer cereals to high-value cash rotations can lift farm solvency by over 30%.</a:t>
            </a:r>
          </a:p>
          <a:p>
            <a:pPr lvl="0"/>
            <a:r>
              <a:rPr lang="en-IN" sz="1800" dirty="0"/>
              <a:t>Acknowledgements:</a:t>
            </a:r>
            <a:r>
              <a:rPr lang="en-IN" sz="1800" b="0" dirty="0"/>
              <a:t> Sincere thanks to the VOIS for Tech program, Edunet Foundation, Vodafone Idea Foundation, and AICTE mentors for their guidance throughout this internship project.</a:t>
            </a:r>
          </a:p>
          <a:p>
            <a:pPr lvl="0"/>
            <a:r>
              <a:rPr lang="en-IN" sz="1800" dirty="0"/>
              <a:t>Contact:</a:t>
            </a:r>
            <a:r>
              <a:rPr lang="en-IN" sz="1800" b="0" dirty="0"/>
              <a:t> Asmi Sharma | Chandigarh University</a:t>
            </a:r>
          </a:p>
          <a:p>
            <a:pPr lvl="0"/>
            <a:r>
              <a:rPr lang="en-IN" sz="1800" dirty="0"/>
              <a:t>Questions &amp; Discussion:</a:t>
            </a:r>
            <a:r>
              <a:rPr lang="en-IN" sz="1800" b="0" dirty="0"/>
              <a:t> Open for Q&amp;A!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1491</TotalTime>
  <Words>2084</Words>
  <Application>Microsoft Office PowerPoint</Application>
  <PresentationFormat>Widescreen</PresentationFormat>
  <Paragraphs>203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Seasonal Agriculture Performance Analysis</vt:lpstr>
      <vt:lpstr>PROBLEM  STATEMENT</vt:lpstr>
      <vt:lpstr>Project Description </vt:lpstr>
      <vt:lpstr>WHO ARE THE END USERS?</vt:lpstr>
      <vt:lpstr>Technology Used</vt:lpstr>
      <vt:lpstr>RESULTS: Seasonal Performance Overview  </vt:lpstr>
      <vt:lpstr>RESULTS: Climate Dynamics &amp; Correlation Analysis </vt:lpstr>
      <vt:lpstr>RESULTS: Irrigation Systems &amp; Water Efficiency Distributions</vt:lpstr>
      <vt:lpstr>RESULTS: Irrigation Systems &amp; Water Efficiency Distributions</vt:lpstr>
      <vt:lpstr>RESULT: Formal Statistics Hypothesis Testing</vt:lpstr>
      <vt:lpstr>Future scope</vt:lpstr>
      <vt:lpstr>GitHub Link</vt:lpstr>
      <vt:lpstr>VOIS Course completion certificate –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ASMI SHARMA</cp:lastModifiedBy>
  <cp:revision>99</cp:revision>
  <dcterms:created xsi:type="dcterms:W3CDTF">2021-07-11T13:13:15Z</dcterms:created>
  <dcterms:modified xsi:type="dcterms:W3CDTF">2026-09-06T07:59:34Z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